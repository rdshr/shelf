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846320" cy="6858000"/>
          </a:xfrm>
          <a:prstGeom prst="rect">
            <a:avLst/>
          </a:prstGeom>
          <a:solidFill>
            <a:srgbClr val="2A3C42"/>
          </a:solidFill>
          <a:ln>
            <a:solidFill>
              <a:srgbClr val="2A3C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3749039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EAB24A"/>
                </a:solidFill>
                <a:latin typeface="Aptos"/>
              </a:rPr>
              <a:t>Shelf AI / VS Code Extension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3840480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Aptos Display"/>
              </a:rPr>
              <a:t>当前插件的结构、能力</a:t>
            </a:r>
            <a:br/>
            <a:r>
              <a:t>以及它如何在后台约束 Codex 编程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331720"/>
            <a:ext cx="365760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500" b="0">
                <a:solidFill>
                  <a:srgbClr val="E9E9E9"/>
                </a:solidFill>
                <a:latin typeface="Aptos"/>
              </a:rPr>
              <a:t>不是启动器，不接管 Codex。</a:t>
            </a:r>
          </a:p>
          <a:p>
            <a:pPr algn="l">
              <a:spcAft>
                <a:spcPts val="500"/>
              </a:spcAft>
            </a:pPr>
            <a:r>
              <a:rPr sz="1500" b="0">
                <a:solidFill>
                  <a:srgbClr val="E9E9E9"/>
                </a:solidFill>
                <a:latin typeface="Aptos"/>
              </a:rPr>
              <a:t>它像结构版 ESLint，一直守在工作区背后。</a:t>
            </a:r>
          </a:p>
          <a:p>
            <a:pPr algn="l">
              <a:spcAft>
                <a:spcPts val="500"/>
              </a:spcAft>
            </a:pPr>
            <a:r>
              <a:rPr sz="1500" b="0">
                <a:solidFill>
                  <a:srgbClr val="E9E9E9"/>
                </a:solidFill>
                <a:latin typeface="Aptos"/>
              </a:rPr>
              <a:t>目标是把 Framework -&gt; Product Spec -&gt; Implementation Config -&gt; Code -&gt; Evidence 扣成一条线。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4983480"/>
            <a:ext cx="1188720" cy="658368"/>
          </a:xfrm>
          <a:prstGeom prst="roundRect">
            <a:avLst/>
          </a:prstGeom>
          <a:solidFill>
            <a:srgbClr val="EF5C3A"/>
          </a:solidFill>
          <a:ln>
            <a:solidFill>
              <a:srgbClr val="EF5C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94944" y="5056632"/>
            <a:ext cx="896112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ptos"/>
              </a:rPr>
              <a:t>版本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4944" y="5230368"/>
            <a:ext cx="89611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Aptos Display"/>
              </a:rPr>
              <a:t>0.0.39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874519" y="4983480"/>
            <a:ext cx="1234440" cy="658368"/>
          </a:xfrm>
          <a:prstGeom prst="roundRect">
            <a:avLst/>
          </a:prstGeom>
          <a:solidFill>
            <a:srgbClr val="1B7577"/>
          </a:solidFill>
          <a:ln>
            <a:solidFill>
              <a:srgbClr val="1B7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020823" y="5056632"/>
            <a:ext cx="941832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ptos"/>
              </a:rPr>
              <a:t>命令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20823" y="5230368"/>
            <a:ext cx="94183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Aptos Display"/>
              </a:rPr>
              <a:t>6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46120" y="4983480"/>
            <a:ext cx="1234440" cy="658368"/>
          </a:xfrm>
          <a:prstGeom prst="roundRect">
            <a:avLst/>
          </a:prstGeom>
          <a:solidFill>
            <a:srgbClr val="EAB24A"/>
          </a:solidFill>
          <a:ln>
            <a:solidFill>
              <a:srgbClr val="EAB2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392424" y="5056632"/>
            <a:ext cx="941832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ptos"/>
              </a:rPr>
              <a:t>配置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92424" y="5230368"/>
            <a:ext cx="94183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Aptos Display"/>
              </a:rPr>
              <a:t>13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5897880"/>
            <a:ext cx="3840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D2D6DB"/>
                </a:solidFill>
                <a:latin typeface="Aptos"/>
              </a:rPr>
              <a:t>2026-03-10 · 针对当前仓库实现自动生成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166360" y="548640"/>
            <a:ext cx="6492240" cy="3429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ED6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github-social-pre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0" y="713232"/>
            <a:ext cx="6217920" cy="3108960"/>
          </a:xfrm>
          <a:prstGeom prst="rect">
            <a:avLst/>
          </a:prstGeom>
        </p:spPr>
      </p:pic>
      <p:sp>
        <p:nvSpPr>
          <p:cNvPr id="18" name="Rounded Rectangle 17"/>
          <p:cNvSpPr/>
          <p:nvPr/>
        </p:nvSpPr>
        <p:spPr>
          <a:xfrm>
            <a:off x="5257800" y="4251960"/>
            <a:ext cx="1965960" cy="1417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F5C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257800" y="4251960"/>
            <a:ext cx="1965960" cy="146304"/>
          </a:xfrm>
          <a:prstGeom prst="rect">
            <a:avLst/>
          </a:prstGeom>
          <a:solidFill>
            <a:srgbClr val="EF5C3A"/>
          </a:solidFill>
          <a:ln>
            <a:solidFill>
              <a:srgbClr val="EF5C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04104" y="4453128"/>
            <a:ext cx="167335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22262E"/>
                </a:solidFill>
                <a:latin typeface="Aptos"/>
              </a:rPr>
              <a:t>定位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04104" y="4818888"/>
            <a:ext cx="1673352" cy="7223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>
                <a:solidFill>
                  <a:srgbClr val="5B606B"/>
                </a:solidFill>
                <a:latin typeface="Aptos"/>
              </a:rPr>
              <a:t>无感安装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5B606B"/>
                </a:solidFill>
                <a:latin typeface="Aptos"/>
              </a:rPr>
              <a:t>后台检查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5B606B"/>
                </a:solidFill>
                <a:latin typeface="Aptos"/>
              </a:rPr>
              <a:t>主动命令可用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452360" y="4251960"/>
            <a:ext cx="1965960" cy="1417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B7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452360" y="4251960"/>
            <a:ext cx="1965960" cy="146304"/>
          </a:xfrm>
          <a:prstGeom prst="rect">
            <a:avLst/>
          </a:prstGeom>
          <a:solidFill>
            <a:srgbClr val="1B7577"/>
          </a:solidFill>
          <a:ln>
            <a:solidFill>
              <a:srgbClr val="1B7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598664" y="4453128"/>
            <a:ext cx="167335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22262E"/>
                </a:solidFill>
                <a:latin typeface="Aptos"/>
              </a:rPr>
              <a:t>守卫对象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598664" y="4818888"/>
            <a:ext cx="1673352" cy="7223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>
                <a:solidFill>
                  <a:srgbClr val="5B606B"/>
                </a:solidFill>
                <a:latin typeface="Aptos"/>
              </a:rPr>
              <a:t>framework/*.md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5B606B"/>
                </a:solidFill>
                <a:latin typeface="Aptos"/>
              </a:rPr>
              <a:t>project spec/config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5B606B"/>
                </a:solidFill>
                <a:latin typeface="Aptos"/>
              </a:rPr>
              <a:t>generated/* 禁区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646920" y="4251960"/>
            <a:ext cx="1965960" cy="1417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AB2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646920" y="4251960"/>
            <a:ext cx="1965960" cy="146304"/>
          </a:xfrm>
          <a:prstGeom prst="rect">
            <a:avLst/>
          </a:prstGeom>
          <a:solidFill>
            <a:srgbClr val="EAB24A"/>
          </a:solidFill>
          <a:ln>
            <a:solidFill>
              <a:srgbClr val="EAB2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793224" y="4453128"/>
            <a:ext cx="167335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22262E"/>
                </a:solidFill>
                <a:latin typeface="Aptos"/>
              </a:rPr>
              <a:t>结果回流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793224" y="4818888"/>
            <a:ext cx="1673352" cy="7223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>
                <a:solidFill>
                  <a:srgbClr val="5B606B"/>
                </a:solidFill>
                <a:latin typeface="Aptos"/>
              </a:rPr>
              <a:t>Problems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5B606B"/>
                </a:solidFill>
                <a:latin typeface="Aptos"/>
              </a:rPr>
              <a:t>状态栏 / Sidebar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5B606B"/>
                </a:solidFill>
                <a:latin typeface="Aptos"/>
              </a:rPr>
              <a:t>pre-push hook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2560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EF5C3A"/>
                </a:solidFill>
                <a:latin typeface="Aptos"/>
              </a:rPr>
              <a:t>01 / 定位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94360"/>
            <a:ext cx="76809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22262E"/>
                </a:solidFill>
                <a:latin typeface="Aptos Display"/>
              </a:rPr>
              <a:t>Shelf AI 的核心定位：无感后台守卫，不是 Codex 启动器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005840"/>
            <a:ext cx="107899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B606B"/>
                </a:solidFill>
                <a:latin typeface="Aptos"/>
              </a:rPr>
              <a:t>插件装上就开始检查；不装就不检查。它不接管 AI 进程，而是约束工作区里的真实变更。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600200"/>
            <a:ext cx="3291840" cy="548640"/>
          </a:xfrm>
          <a:prstGeom prst="roundRect">
            <a:avLst/>
          </a:prstGeom>
          <a:solidFill>
            <a:srgbClr val="EF5C3A"/>
          </a:solidFill>
          <a:ln>
            <a:solidFill>
              <a:srgbClr val="EF5C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673352"/>
            <a:ext cx="1645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Aptos Display"/>
              </a:rPr>
              <a:t>Framework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31720" y="1700784"/>
            <a:ext cx="155448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Aptos"/>
              </a:rPr>
              <a:t>规则与结构语言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423160" y="2148840"/>
            <a:ext cx="0" cy="201168"/>
          </a:xfrm>
          <a:prstGeom prst="line">
            <a:avLst/>
          </a:prstGeom>
          <a:ln w="22860">
            <a:solidFill>
              <a:srgbClr val="2A3C4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777240" y="2350008"/>
            <a:ext cx="3291840" cy="548640"/>
          </a:xfrm>
          <a:prstGeom prst="roundRect">
            <a:avLst/>
          </a:prstGeom>
          <a:solidFill>
            <a:srgbClr val="1B7577"/>
          </a:solidFill>
          <a:ln>
            <a:solidFill>
              <a:srgbClr val="1B7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2423160"/>
            <a:ext cx="1645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Aptos Display"/>
              </a:rPr>
              <a:t>Product Spec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31720" y="2450592"/>
            <a:ext cx="155448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Aptos"/>
              </a:rPr>
              <a:t>产品真相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423160" y="2898648"/>
            <a:ext cx="0" cy="201168"/>
          </a:xfrm>
          <a:prstGeom prst="line">
            <a:avLst/>
          </a:prstGeom>
          <a:ln w="22860">
            <a:solidFill>
              <a:srgbClr val="2A3C4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777240" y="3099816"/>
            <a:ext cx="3291840" cy="548640"/>
          </a:xfrm>
          <a:prstGeom prst="roundRect">
            <a:avLst/>
          </a:prstGeom>
          <a:solidFill>
            <a:srgbClr val="EAB24A"/>
          </a:solidFill>
          <a:ln>
            <a:solidFill>
              <a:srgbClr val="EAB2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3172968"/>
            <a:ext cx="1645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Aptos Display"/>
              </a:rPr>
              <a:t>Implementation Config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31720" y="3200400"/>
            <a:ext cx="155448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Aptos"/>
              </a:rPr>
              <a:t>实现细化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2423160" y="3648456"/>
            <a:ext cx="0" cy="201168"/>
          </a:xfrm>
          <a:prstGeom prst="line">
            <a:avLst/>
          </a:prstGeom>
          <a:ln w="22860">
            <a:solidFill>
              <a:srgbClr val="2A3C4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777240" y="3849624"/>
            <a:ext cx="3291840" cy="548640"/>
          </a:xfrm>
          <a:prstGeom prst="roundRect">
            <a:avLst/>
          </a:prstGeom>
          <a:solidFill>
            <a:srgbClr val="2A3C42"/>
          </a:solidFill>
          <a:ln>
            <a:solidFill>
              <a:srgbClr val="2A3C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0120" y="3922776"/>
            <a:ext cx="1645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Aptos Display"/>
              </a:rPr>
              <a:t>Code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31720" y="3950208"/>
            <a:ext cx="155448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Aptos"/>
              </a:rPr>
              <a:t>src/ scripts/ tests/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2423160" y="4398264"/>
            <a:ext cx="0" cy="201168"/>
          </a:xfrm>
          <a:prstGeom prst="line">
            <a:avLst/>
          </a:prstGeom>
          <a:ln w="22860">
            <a:solidFill>
              <a:srgbClr val="2A3C4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777240" y="4599432"/>
            <a:ext cx="3291840" cy="548640"/>
          </a:xfrm>
          <a:prstGeom prst="roundRect">
            <a:avLst/>
          </a:prstGeom>
          <a:solidFill>
            <a:srgbClr val="3F8571"/>
          </a:solidFill>
          <a:ln>
            <a:solidFill>
              <a:srgbClr val="3F85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0120" y="4672584"/>
            <a:ext cx="1645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Aptos Display"/>
              </a:rPr>
              <a:t>Evidence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331720" y="4700016"/>
            <a:ext cx="155448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Aptos"/>
              </a:rPr>
              <a:t>generated/* + diagnostics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72000" y="1645920"/>
            <a:ext cx="2926080" cy="15544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F5C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572000" y="1645920"/>
            <a:ext cx="2926080" cy="146304"/>
          </a:xfrm>
          <a:prstGeom prst="rect">
            <a:avLst/>
          </a:prstGeom>
          <a:solidFill>
            <a:srgbClr val="EF5C3A"/>
          </a:solidFill>
          <a:ln>
            <a:solidFill>
              <a:srgbClr val="EF5C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718304" y="1847088"/>
            <a:ext cx="263347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22262E"/>
                </a:solidFill>
                <a:latin typeface="Aptos"/>
              </a:rPr>
              <a:t>它做什么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718304" y="2212848"/>
            <a:ext cx="2633472" cy="8595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>
                <a:solidFill>
                  <a:srgbClr val="5B606B"/>
                </a:solidFill>
                <a:latin typeface="Aptos"/>
              </a:rPr>
              <a:t>监听保存、创建、重命名、删除、外部变更、窗口重新聚焦。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5B606B"/>
                </a:solidFill>
                <a:latin typeface="Aptos"/>
              </a:rPr>
              <a:t>把变化分类成：要不要物化、要不要跑 mypy、是否命中 generated 禁区。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5B606B"/>
                </a:solidFill>
                <a:latin typeface="Aptos"/>
              </a:rPr>
              <a:t>把结果送回 VS Code 诊断、状态栏、侧边栏与 git hook。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726679" y="1645920"/>
            <a:ext cx="3474720" cy="15544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B7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726679" y="1645920"/>
            <a:ext cx="3474720" cy="146304"/>
          </a:xfrm>
          <a:prstGeom prst="rect">
            <a:avLst/>
          </a:prstGeom>
          <a:solidFill>
            <a:srgbClr val="1B7577"/>
          </a:solidFill>
          <a:ln>
            <a:solidFill>
              <a:srgbClr val="1B7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872983" y="1847088"/>
            <a:ext cx="318211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22262E"/>
                </a:solidFill>
                <a:latin typeface="Aptos"/>
              </a:rPr>
              <a:t>它不做什么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872983" y="2212848"/>
            <a:ext cx="3182112" cy="8595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>
                <a:solidFill>
                  <a:srgbClr val="5B606B"/>
                </a:solidFill>
                <a:latin typeface="Aptos"/>
              </a:rPr>
              <a:t>不负责启动 Codex，也不劫持用户原来的使用入口。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5B606B"/>
                </a:solidFill>
                <a:latin typeface="Aptos"/>
              </a:rPr>
              <a:t>不靠聊天提示词“劝说” AI 守规矩。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5B606B"/>
                </a:solidFill>
                <a:latin typeface="Aptos"/>
              </a:rPr>
              <a:t>当前不是写前拦截，而是写后立即检查 + 推送前硬挡。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572000" y="3566160"/>
            <a:ext cx="6583680" cy="1828800"/>
          </a:xfrm>
          <a:prstGeom prst="roundRect">
            <a:avLst/>
          </a:prstGeom>
          <a:solidFill>
            <a:srgbClr val="22262E"/>
          </a:solidFill>
          <a:ln>
            <a:solidFill>
              <a:srgbClr val="2226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718304" y="3675888"/>
            <a:ext cx="629107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EAB24A"/>
                </a:solidFill>
                <a:latin typeface="Aptos"/>
              </a:rPr>
              <a:t>现在的基本判断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718304" y="3931920"/>
            <a:ext cx="6291072" cy="1353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0">
                <a:solidFill>
                  <a:srgbClr val="FFFFFF"/>
                </a:solidFill>
                <a:latin typeface="Cascadia Code"/>
              </a:rPr>
              <a:t>装插件 -&gt; 默默运行后台守卫</a:t>
            </a:r>
          </a:p>
          <a:p>
            <a:pPr algn="l">
              <a:spcAft>
                <a:spcPts val="500"/>
              </a:spcAft>
            </a:pPr>
            <a:r>
              <a:rPr sz="1100" b="0">
                <a:solidFill>
                  <a:srgbClr val="FFFFFF"/>
                </a:solidFill>
                <a:latin typeface="Cascadia Code"/>
              </a:rPr>
              <a:t>改 framework/spec/config -&gt; 自动 materialize</a:t>
            </a:r>
          </a:p>
          <a:p>
            <a:pPr algn="l">
              <a:spcAft>
                <a:spcPts val="500"/>
              </a:spcAft>
            </a:pPr>
            <a:r>
              <a:rPr sz="1100" b="0">
                <a:solidFill>
                  <a:srgbClr val="FFFFFF"/>
                </a:solidFill>
                <a:latin typeface="Cascadia Code"/>
              </a:rPr>
              <a:t>改 src/scripts/tests 下 Python -&gt; 追加 mypy</a:t>
            </a:r>
          </a:p>
          <a:p>
            <a:pPr algn="l">
              <a:spcAft>
                <a:spcPts val="500"/>
              </a:spcAft>
            </a:pPr>
            <a:r>
              <a:rPr sz="1100" b="0">
                <a:solidFill>
                  <a:srgbClr val="FFFFFF"/>
                </a:solidFill>
                <a:latin typeface="Cascadia Code"/>
              </a:rPr>
              <a:t>改 projects/*/generated/* -&gt; normal 报错 / strict 恢复</a:t>
            </a:r>
          </a:p>
          <a:p>
            <a:pPr algn="l">
              <a:spcAft>
                <a:spcPts val="500"/>
              </a:spcAft>
            </a:pPr>
            <a:r>
              <a:rPr sz="1100" b="0">
                <a:solidFill>
                  <a:srgbClr val="FFFFFF"/>
                </a:solidFill>
                <a:latin typeface="Cascadia Code"/>
              </a:rPr>
              <a:t>推送前 -&gt; .githooks 再做一次硬验证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8640" y="6419088"/>
            <a:ext cx="10972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5B606B"/>
                </a:solidFill>
                <a:latin typeface="Aptos"/>
              </a:rPr>
              <a:t>结构约束来源：AGENTS.md；插件定位实现：tools/vscode/shelf-ai/extension.js 与 guarding.js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2560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EF5C3A"/>
                </a:solidFill>
                <a:latin typeface="Aptos"/>
              </a:rPr>
              <a:t>02 / 结构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94360"/>
            <a:ext cx="76809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22262E"/>
                </a:solidFill>
                <a:latin typeface="Aptos Display"/>
              </a:rPr>
              <a:t>插件由一个 orchestrator 加三个专职模块，再连到仓库脚本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005840"/>
            <a:ext cx="107899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B606B"/>
                </a:solidFill>
                <a:latin typeface="Aptos"/>
              </a:rPr>
              <a:t>真正的“后台守卫链”不在单一命令里，而在 extension.js 对 VS Code 事件、providers、脚本和 hooks 的统一编排里。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645920"/>
            <a:ext cx="2286000" cy="10972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F5C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645920"/>
            <a:ext cx="2286000" cy="146304"/>
          </a:xfrm>
          <a:prstGeom prst="rect">
            <a:avLst/>
          </a:prstGeom>
          <a:solidFill>
            <a:srgbClr val="EF5C3A"/>
          </a:solidFill>
          <a:ln>
            <a:solidFill>
              <a:srgbClr val="EF5C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86384" y="1847088"/>
            <a:ext cx="199339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22262E"/>
                </a:solidFill>
                <a:latin typeface="Aptos"/>
              </a:rPr>
              <a:t>VS Code Surface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6384" y="2212848"/>
            <a:ext cx="199339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>
                <a:solidFill>
                  <a:srgbClr val="5B606B"/>
                </a:solidFill>
                <a:latin typeface="Aptos"/>
              </a:rPr>
              <a:t>Activity Bar / Sidebar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5B606B"/>
                </a:solidFill>
                <a:latin typeface="Aptos"/>
              </a:rPr>
              <a:t>Status Bar / Problems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5B606B"/>
                </a:solidFill>
                <a:latin typeface="Aptos"/>
              </a:rPr>
              <a:t>Commands / File Events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46120" y="1508760"/>
            <a:ext cx="2743200" cy="13716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A3C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246120" y="1508760"/>
            <a:ext cx="2743200" cy="146304"/>
          </a:xfrm>
          <a:prstGeom prst="rect">
            <a:avLst/>
          </a:prstGeom>
          <a:solidFill>
            <a:srgbClr val="2A3C42"/>
          </a:solidFill>
          <a:ln>
            <a:solidFill>
              <a:srgbClr val="2A3C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92424" y="1709928"/>
            <a:ext cx="245059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22262E"/>
                </a:solidFill>
                <a:latin typeface="Aptos"/>
              </a:rPr>
              <a:t>extension.js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92424" y="2075688"/>
            <a:ext cx="2450592" cy="676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>
                <a:solidFill>
                  <a:srgbClr val="5B606B"/>
                </a:solidFill>
                <a:latin typeface="Aptos"/>
              </a:rPr>
              <a:t>唯一 orchestrator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5B606B"/>
                </a:solidFill>
                <a:latin typeface="Aptos"/>
              </a:rPr>
              <a:t>注册 providers / commands / watchers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5B606B"/>
                </a:solidFill>
                <a:latin typeface="Aptos"/>
              </a:rPr>
              <a:t>执行 runValidation 与 UI 回流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09360" y="1645920"/>
            <a:ext cx="2468880" cy="10972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B7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09360" y="1645920"/>
            <a:ext cx="2468880" cy="146304"/>
          </a:xfrm>
          <a:prstGeom prst="rect">
            <a:avLst/>
          </a:prstGeom>
          <a:solidFill>
            <a:srgbClr val="1B7577"/>
          </a:solidFill>
          <a:ln>
            <a:solidFill>
              <a:srgbClr val="1B7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55664" y="1847088"/>
            <a:ext cx="217627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22262E"/>
                </a:solidFill>
                <a:latin typeface="Aptos"/>
              </a:rPr>
              <a:t>guarding.js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55664" y="2212848"/>
            <a:ext cx="217627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>
                <a:solidFill>
                  <a:srgbClr val="5B606B"/>
                </a:solidFill>
                <a:latin typeface="Aptos"/>
              </a:rPr>
              <a:t>变更分类器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5B606B"/>
                </a:solidFill>
                <a:latin typeface="Aptos"/>
              </a:rPr>
              <a:t>watched path / generated protect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5B606B"/>
                </a:solidFill>
                <a:latin typeface="Aptos"/>
              </a:rPr>
              <a:t>materialize + mypy 判定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098280" y="1645920"/>
            <a:ext cx="2423160" cy="10972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AB2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098280" y="1645920"/>
            <a:ext cx="2423160" cy="146304"/>
          </a:xfrm>
          <a:prstGeom prst="rect">
            <a:avLst/>
          </a:prstGeom>
          <a:solidFill>
            <a:srgbClr val="EAB24A"/>
          </a:solidFill>
          <a:ln>
            <a:solidFill>
              <a:srgbClr val="EAB2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244584" y="1847088"/>
            <a:ext cx="213055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22262E"/>
                </a:solidFill>
                <a:latin typeface="Aptos"/>
              </a:rPr>
              <a:t>仓库脚本链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44584" y="2212848"/>
            <a:ext cx="213055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>
                <a:solidFill>
                  <a:srgbClr val="5B606B"/>
                </a:solidFill>
                <a:latin typeface="Aptos"/>
              </a:rPr>
              <a:t>materialize_project.py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5B606B"/>
                </a:solidFill>
                <a:latin typeface="Aptos"/>
              </a:rPr>
              <a:t>validate_strict_mapping.py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5B606B"/>
                </a:solidFill>
                <a:latin typeface="Aptos"/>
              </a:rPr>
              <a:t>uv run mypy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2926080" y="2194560"/>
            <a:ext cx="320040" cy="0"/>
          </a:xfrm>
          <a:prstGeom prst="line">
            <a:avLst/>
          </a:prstGeom>
          <a:ln w="22860">
            <a:solidFill>
              <a:srgbClr val="2A3C4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5989320" y="2194560"/>
            <a:ext cx="320040" cy="0"/>
          </a:xfrm>
          <a:prstGeom prst="line">
            <a:avLst/>
          </a:prstGeom>
          <a:ln w="22860">
            <a:solidFill>
              <a:srgbClr val="2A3C4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8778240" y="2194560"/>
            <a:ext cx="320040" cy="0"/>
          </a:xfrm>
          <a:prstGeom prst="line">
            <a:avLst/>
          </a:prstGeom>
          <a:ln w="22860">
            <a:solidFill>
              <a:srgbClr val="2A3C4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914400" y="3246120"/>
            <a:ext cx="2926080" cy="15544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F5C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14400" y="3246120"/>
            <a:ext cx="2926080" cy="146304"/>
          </a:xfrm>
          <a:prstGeom prst="rect">
            <a:avLst/>
          </a:prstGeom>
          <a:solidFill>
            <a:srgbClr val="EF5C3A"/>
          </a:solidFill>
          <a:ln>
            <a:solidFill>
              <a:srgbClr val="EF5C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60704" y="3447288"/>
            <a:ext cx="263347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22262E"/>
                </a:solidFill>
                <a:latin typeface="Aptos"/>
              </a:rPr>
              <a:t>framework_navigation.js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0704" y="3813048"/>
            <a:ext cx="2633472" cy="8595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>
                <a:solidFill>
                  <a:srgbClr val="5B606B"/>
                </a:solidFill>
                <a:latin typeface="Aptos"/>
              </a:rPr>
              <a:t>识别 framework markdown 符号。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5B606B"/>
                </a:solidFill>
                <a:latin typeface="Aptos"/>
              </a:rPr>
              <a:t>支持 Go to Definition / Hover / References。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5B606B"/>
                </a:solidFill>
                <a:latin typeface="Aptos"/>
              </a:rPr>
              <a:t>还能把 boundary token 追到 product_spec.toml section。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160520" y="3246120"/>
            <a:ext cx="2926080" cy="15544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B7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160520" y="3246120"/>
            <a:ext cx="2926080" cy="146304"/>
          </a:xfrm>
          <a:prstGeom prst="rect">
            <a:avLst/>
          </a:prstGeom>
          <a:solidFill>
            <a:srgbClr val="1B7577"/>
          </a:solidFill>
          <a:ln>
            <a:solidFill>
              <a:srgbClr val="1B7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306824" y="3447288"/>
            <a:ext cx="263347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22262E"/>
                </a:solidFill>
                <a:latin typeface="Aptos"/>
              </a:rPr>
              <a:t>framework_completion.js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306824" y="3813048"/>
            <a:ext cx="2633472" cy="8595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>
                <a:solidFill>
                  <a:srgbClr val="5B606B"/>
                </a:solidFill>
                <a:latin typeface="Aptos"/>
              </a:rPr>
              <a:t>管理 @framework 模板与骨架片段。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5B606B"/>
                </a:solidFill>
                <a:latin typeface="Aptos"/>
              </a:rPr>
              <a:t>按上下文返回 completion entries。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5B606B"/>
                </a:solidFill>
                <a:latin typeface="Aptos"/>
              </a:rPr>
              <a:t>保证框架作者入口始终直接可用。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406640" y="3246120"/>
            <a:ext cx="2926080" cy="15544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AB2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406640" y="3246120"/>
            <a:ext cx="2926080" cy="146304"/>
          </a:xfrm>
          <a:prstGeom prst="rect">
            <a:avLst/>
          </a:prstGeom>
          <a:solidFill>
            <a:srgbClr val="EAB24A"/>
          </a:solidFill>
          <a:ln>
            <a:solidFill>
              <a:srgbClr val="EAB2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552944" y="3447288"/>
            <a:ext cx="263347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22262E"/>
                </a:solidFill>
                <a:latin typeface="Aptos"/>
              </a:rPr>
              <a:t>package.json / README / tests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552944" y="3813048"/>
            <a:ext cx="2633472" cy="8595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>
                <a:solidFill>
                  <a:srgbClr val="5B606B"/>
                </a:solidFill>
                <a:latin typeface="Aptos"/>
              </a:rPr>
              <a:t>贡献命令、视图、配置、激活事件。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5B606B"/>
                </a:solidFill>
                <a:latin typeface="Aptos"/>
              </a:rPr>
              <a:t>README 公开行为契约。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5B606B"/>
                </a:solidFill>
                <a:latin typeface="Aptos"/>
              </a:rPr>
              <a:t>test_snippets.js / test_guarding.js 防回归。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22960" y="5212080"/>
            <a:ext cx="10789920" cy="868680"/>
          </a:xfrm>
          <a:prstGeom prst="roundRect">
            <a:avLst/>
          </a:prstGeom>
          <a:solidFill>
            <a:srgbClr val="22262E"/>
          </a:solidFill>
          <a:ln>
            <a:solidFill>
              <a:srgbClr val="2226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69264" y="5321808"/>
            <a:ext cx="1049731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EAB24A"/>
                </a:solidFill>
                <a:latin typeface="Aptos"/>
              </a:rPr>
              <a:t>关键入口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9264" y="5577840"/>
            <a:ext cx="10497312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0">
                <a:solidFill>
                  <a:srgbClr val="FFFFFF"/>
                </a:solidFill>
                <a:latin typeface="Cascadia Code"/>
              </a:rPr>
              <a:t>registerWebviewViewProvider -&gt; Sidebar；registerDefinitionProvider / Hover / Reference / Completion -&gt; 框架作者体验；onDidSave / Create / Delete / Rename / Focus / FileSystemWatcher -&gt; 后台守卫触发链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48640" y="6419088"/>
            <a:ext cx="10972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5B606B"/>
                </a:solidFill>
                <a:latin typeface="Aptos"/>
              </a:rPr>
              <a:t>文件分工：extension.js:869-1279；framework_navigation.js；framework_completion.js；guarding.js；package.json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2560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EF5C3A"/>
                </a:solidFill>
                <a:latin typeface="Aptos"/>
              </a:rPr>
              <a:t>03 / 能力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94360"/>
            <a:ext cx="76809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22262E"/>
                </a:solidFill>
                <a:latin typeface="Aptos Display"/>
              </a:rPr>
              <a:t>当前插件已经覆盖“写、看、查、守、交付”五个层面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005840"/>
            <a:ext cx="107899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B606B"/>
                </a:solidFill>
                <a:latin typeface="Aptos"/>
              </a:rPr>
              <a:t>对用户来说，最好用的地方不是多一个聊天框，而是把仓库结构语言直接变成 VS Code 的可见能力。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508760"/>
            <a:ext cx="2743200" cy="14630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F5C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508760"/>
            <a:ext cx="2743200" cy="146304"/>
          </a:xfrm>
          <a:prstGeom prst="rect">
            <a:avLst/>
          </a:prstGeom>
          <a:solidFill>
            <a:srgbClr val="EF5C3A"/>
          </a:solidFill>
          <a:ln>
            <a:solidFill>
              <a:srgbClr val="EF5C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86384" y="1709928"/>
            <a:ext cx="245059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22262E"/>
                </a:solidFill>
                <a:latin typeface="Aptos"/>
              </a:rPr>
              <a:t>写：框架作者入口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6384" y="2075688"/>
            <a:ext cx="2450592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>
                <a:solidFill>
                  <a:srgbClr val="5B606B"/>
                </a:solidFill>
                <a:latin typeface="Aptos"/>
              </a:rPr>
              <a:t>@framework 模板命令与 snippet 并存。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5B606B"/>
                </a:solidFill>
                <a:latin typeface="Aptos"/>
              </a:rPr>
              <a:t>章节、C/B/R/V、边界与规则子项自动补全。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5B606B"/>
                </a:solidFill>
                <a:latin typeface="Aptos"/>
              </a:rPr>
              <a:t>这是仓库硬契约，不能被重构掉。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154680"/>
            <a:ext cx="2743200" cy="14630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B7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3154680"/>
            <a:ext cx="2743200" cy="146304"/>
          </a:xfrm>
          <a:prstGeom prst="rect">
            <a:avLst/>
          </a:prstGeom>
          <a:solidFill>
            <a:srgbClr val="1B7577"/>
          </a:solidFill>
          <a:ln>
            <a:solidFill>
              <a:srgbClr val="1B7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6384" y="3355848"/>
            <a:ext cx="245059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22262E"/>
                </a:solidFill>
                <a:latin typeface="Aptos"/>
              </a:rPr>
              <a:t>看：结构导航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6384" y="3721608"/>
            <a:ext cx="2450592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>
                <a:solidFill>
                  <a:srgbClr val="5B606B"/>
                </a:solidFill>
                <a:latin typeface="Aptos"/>
              </a:rPr>
              <a:t>侧边栏打开 framework tree。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5B606B"/>
                </a:solidFill>
                <a:latin typeface="Aptos"/>
              </a:rPr>
              <a:t>Ctrl/Cmd+Click、Hover、Find All References 全接上。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5B606B"/>
                </a:solidFill>
                <a:latin typeface="Aptos"/>
              </a:rPr>
              <a:t>boundary 还能反查 product_spec section。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4800600"/>
            <a:ext cx="2743200" cy="1417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AB2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0080" y="4800600"/>
            <a:ext cx="2743200" cy="146304"/>
          </a:xfrm>
          <a:prstGeom prst="rect">
            <a:avLst/>
          </a:prstGeom>
          <a:solidFill>
            <a:srgbClr val="EAB24A"/>
          </a:solidFill>
          <a:ln>
            <a:solidFill>
              <a:srgbClr val="EAB2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6384" y="5001768"/>
            <a:ext cx="245059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22262E"/>
                </a:solidFill>
                <a:latin typeface="Aptos"/>
              </a:rPr>
              <a:t>守：后台校验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6384" y="5367528"/>
            <a:ext cx="2450592" cy="7223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>
                <a:solidFill>
                  <a:srgbClr val="5B606B"/>
                </a:solidFill>
                <a:latin typeface="Aptos"/>
              </a:rPr>
              <a:t>启动自动校验，窗口回焦也会补跑。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5B606B"/>
                </a:solidFill>
                <a:latin typeface="Aptos"/>
              </a:rPr>
              <a:t>保存/外部变更后自动分类并执行守卫链。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5B606B"/>
                </a:solidFill>
                <a:latin typeface="Aptos"/>
              </a:rPr>
              <a:t>状态栏、Problems、Sidebar、Output 一起回流。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749039" y="1600200"/>
            <a:ext cx="7818120" cy="45262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FD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knowledge-base-workben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44139" y="1755648"/>
            <a:ext cx="3237064" cy="4187952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3913632" y="5925312"/>
            <a:ext cx="73152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5B606B"/>
                </a:solidFill>
                <a:latin typeface="Aptos"/>
              </a:rPr>
              <a:t>示意图：插件最终守住的是知识库工作区及其结构化产物，而不是另起一套“AI 专用编辑器”。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412480" y="594360"/>
            <a:ext cx="914400" cy="658368"/>
          </a:xfrm>
          <a:prstGeom prst="roundRect">
            <a:avLst/>
          </a:prstGeom>
          <a:solidFill>
            <a:srgbClr val="EF5C3A"/>
          </a:solidFill>
          <a:ln>
            <a:solidFill>
              <a:srgbClr val="EF5C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558784" y="667512"/>
            <a:ext cx="621792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ptos"/>
              </a:rPr>
              <a:t>命令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58784" y="841248"/>
            <a:ext cx="62179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Aptos Display"/>
              </a:rPr>
              <a:t>6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464040" y="594360"/>
            <a:ext cx="914400" cy="658368"/>
          </a:xfrm>
          <a:prstGeom prst="roundRect">
            <a:avLst/>
          </a:prstGeom>
          <a:solidFill>
            <a:srgbClr val="1B7577"/>
          </a:solidFill>
          <a:ln>
            <a:solidFill>
              <a:srgbClr val="1B7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610344" y="667512"/>
            <a:ext cx="621792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ptos"/>
              </a:rPr>
              <a:t>配置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10344" y="841248"/>
            <a:ext cx="62179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Aptos Display"/>
              </a:rPr>
              <a:t>13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0515600" y="594360"/>
            <a:ext cx="914400" cy="658368"/>
          </a:xfrm>
          <a:prstGeom prst="roundRect">
            <a:avLst/>
          </a:prstGeom>
          <a:solidFill>
            <a:srgbClr val="EAB24A"/>
          </a:solidFill>
          <a:ln>
            <a:solidFill>
              <a:srgbClr val="EAB2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661904" y="667512"/>
            <a:ext cx="621792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ptos"/>
              </a:rPr>
              <a:t>激活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661904" y="841248"/>
            <a:ext cx="62179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Aptos Display"/>
              </a:rPr>
              <a:t>7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6419088"/>
            <a:ext cx="10972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5B606B"/>
                </a:solidFill>
                <a:latin typeface="Aptos"/>
              </a:rPr>
              <a:t>能力面：framework_navigation.js、framework_completion.js、extension.js、package.json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2560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EF5C3A"/>
                </a:solidFill>
                <a:latin typeface="Aptos"/>
              </a:rPr>
              <a:t>04 / 工作流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94360"/>
            <a:ext cx="76809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22262E"/>
                </a:solidFill>
                <a:latin typeface="Aptos Display"/>
              </a:rPr>
              <a:t>后台守卫链：先分类，再决定跑什么，而不是每次一股脑全跑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005840"/>
            <a:ext cx="107899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B606B"/>
                </a:solidFill>
                <a:latin typeface="Aptos"/>
              </a:rPr>
              <a:t>这是性能和严格性之间的工程平衡点。只有相关变更才触发相关命令，避免把每次保存都变成一次重型 CI。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28800"/>
            <a:ext cx="1554480" cy="987552"/>
          </a:xfrm>
          <a:prstGeom prst="roundRect">
            <a:avLst/>
          </a:prstGeom>
          <a:solidFill>
            <a:srgbClr val="EF5C3A"/>
          </a:solidFill>
          <a:ln>
            <a:solidFill>
              <a:srgbClr val="EF5C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9808" y="1920240"/>
            <a:ext cx="1335024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Aptos"/>
              </a:rPr>
              <a:t>1. 事件触发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2148840"/>
            <a:ext cx="1335024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Aptos"/>
              </a:rPr>
              <a:t>save / create / rename / delete / watcher / focus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194560" y="2322576"/>
            <a:ext cx="91440" cy="0"/>
          </a:xfrm>
          <a:prstGeom prst="line">
            <a:avLst/>
          </a:prstGeom>
          <a:ln w="22860">
            <a:solidFill>
              <a:srgbClr val="2A3C4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2286000" y="1828800"/>
            <a:ext cx="1554480" cy="987552"/>
          </a:xfrm>
          <a:prstGeom prst="roundRect">
            <a:avLst/>
          </a:prstGeom>
          <a:solidFill>
            <a:srgbClr val="1B7577"/>
          </a:solidFill>
          <a:ln>
            <a:solidFill>
              <a:srgbClr val="1B7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395728" y="1920240"/>
            <a:ext cx="1335024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Aptos"/>
              </a:rPr>
              <a:t>2. classify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95728" y="2148840"/>
            <a:ext cx="1335024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Aptos"/>
              </a:rPr>
              <a:t>watch 范围、generated 禁区、materialize / mypy 判定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840480" y="2322576"/>
            <a:ext cx="91440" cy="0"/>
          </a:xfrm>
          <a:prstGeom prst="line">
            <a:avLst/>
          </a:prstGeom>
          <a:ln w="22860">
            <a:solidFill>
              <a:srgbClr val="2A3C4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3931920" y="1828800"/>
            <a:ext cx="1554480" cy="987552"/>
          </a:xfrm>
          <a:prstGeom prst="roundRect">
            <a:avLst/>
          </a:prstGeom>
          <a:solidFill>
            <a:srgbClr val="EAB24A"/>
          </a:solidFill>
          <a:ln>
            <a:solidFill>
              <a:srgbClr val="EAB2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041648" y="1920240"/>
            <a:ext cx="1335024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Aptos"/>
              </a:rPr>
              <a:t>3. generated 守卫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041648" y="2148840"/>
            <a:ext cx="1335024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Aptos"/>
              </a:rPr>
              <a:t>normal 报告；strict 自动恢复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5486400" y="2322576"/>
            <a:ext cx="91440" cy="0"/>
          </a:xfrm>
          <a:prstGeom prst="line">
            <a:avLst/>
          </a:prstGeom>
          <a:ln w="22860">
            <a:solidFill>
              <a:srgbClr val="2A3C4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5577840" y="1828800"/>
            <a:ext cx="1554480" cy="987552"/>
          </a:xfrm>
          <a:prstGeom prst="roundRect">
            <a:avLst/>
          </a:prstGeom>
          <a:solidFill>
            <a:srgbClr val="2A3C42"/>
          </a:solidFill>
          <a:ln>
            <a:solidFill>
              <a:srgbClr val="2A3C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687568" y="1920240"/>
            <a:ext cx="1335024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Aptos"/>
              </a:rPr>
              <a:t>4. auto materialize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87568" y="2148840"/>
            <a:ext cx="1335024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Aptos"/>
              </a:rPr>
              <a:t>framework/spec/config 变化才跑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7132320" y="2322576"/>
            <a:ext cx="91440" cy="0"/>
          </a:xfrm>
          <a:prstGeom prst="line">
            <a:avLst/>
          </a:prstGeom>
          <a:ln w="22860">
            <a:solidFill>
              <a:srgbClr val="2A3C4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7223760" y="1828800"/>
            <a:ext cx="1554480" cy="987552"/>
          </a:xfrm>
          <a:prstGeom prst="roundRect">
            <a:avLst/>
          </a:prstGeom>
          <a:solidFill>
            <a:srgbClr val="3F8571"/>
          </a:solidFill>
          <a:ln>
            <a:solidFill>
              <a:srgbClr val="3F85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33488" y="1920240"/>
            <a:ext cx="1335024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Aptos"/>
              </a:rPr>
              <a:t>5. mypy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33488" y="2148840"/>
            <a:ext cx="1335024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Aptos"/>
              </a:rPr>
              <a:t>仅 src/ scripts/ tests 下 Python 改动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8778240" y="2322576"/>
            <a:ext cx="91440" cy="0"/>
          </a:xfrm>
          <a:prstGeom prst="line">
            <a:avLst/>
          </a:prstGeom>
          <a:ln w="22860">
            <a:solidFill>
              <a:srgbClr val="2A3C4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8869680" y="1828800"/>
            <a:ext cx="1554480" cy="987552"/>
          </a:xfrm>
          <a:prstGeom prst="roundRect">
            <a:avLst/>
          </a:prstGeom>
          <a:solidFill>
            <a:srgbClr val="D47D22"/>
          </a:solidFill>
          <a:ln>
            <a:solidFill>
              <a:srgbClr val="D47D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979408" y="1920240"/>
            <a:ext cx="1335024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Aptos"/>
              </a:rPr>
              <a:t>6. strict validate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979408" y="2148840"/>
            <a:ext cx="1335024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Aptos"/>
              </a:rPr>
              <a:t>validate_strict_mapping.py / --check-changes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10424160" y="2322576"/>
            <a:ext cx="91440" cy="0"/>
          </a:xfrm>
          <a:prstGeom prst="line">
            <a:avLst/>
          </a:prstGeom>
          <a:ln w="22860">
            <a:solidFill>
              <a:srgbClr val="2A3C4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10515600" y="1828800"/>
            <a:ext cx="1554480" cy="987552"/>
          </a:xfrm>
          <a:prstGeom prst="roundRect">
            <a:avLst/>
          </a:prstGeom>
          <a:solidFill>
            <a:srgbClr val="EF5C3A"/>
          </a:solidFill>
          <a:ln>
            <a:solidFill>
              <a:srgbClr val="EF5C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625328" y="1920240"/>
            <a:ext cx="1335024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Aptos"/>
              </a:rPr>
              <a:t>7. 结果回流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625328" y="2148840"/>
            <a:ext cx="1335024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Aptos"/>
              </a:rPr>
              <a:t>Diagnostics / Status / Sidebar / Output / Hook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22960" y="3794760"/>
            <a:ext cx="3154680" cy="16459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F5C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22960" y="3794760"/>
            <a:ext cx="3154680" cy="146304"/>
          </a:xfrm>
          <a:prstGeom prst="rect">
            <a:avLst/>
          </a:prstGeom>
          <a:solidFill>
            <a:srgbClr val="EF5C3A"/>
          </a:solidFill>
          <a:ln>
            <a:solidFill>
              <a:srgbClr val="EF5C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69264" y="3995928"/>
            <a:ext cx="286207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22262E"/>
                </a:solidFill>
                <a:latin typeface="Aptos"/>
              </a:rPr>
              <a:t>strict mode 分支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9264" y="4361688"/>
            <a:ext cx="2862072" cy="9509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>
                <a:solidFill>
                  <a:srgbClr val="5B606B"/>
                </a:solidFill>
                <a:latin typeface="Aptos"/>
              </a:rPr>
              <a:t>命中 projects/*/generated/* 直改时，优先反推出 owning product_spec.toml。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5B606B"/>
                </a:solidFill>
                <a:latin typeface="Aptos"/>
              </a:rPr>
              <a:t>能恢复就立即 materialize 回去，并抑制刚生成目录的重复事件。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5B606B"/>
                </a:solidFill>
                <a:latin typeface="Aptos"/>
              </a:rPr>
              <a:t>恢复失败才把问题抛给用户。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251960" y="3794760"/>
            <a:ext cx="3154680" cy="16459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B7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4251960" y="3794760"/>
            <a:ext cx="3154680" cy="146304"/>
          </a:xfrm>
          <a:prstGeom prst="rect">
            <a:avLst/>
          </a:prstGeom>
          <a:solidFill>
            <a:srgbClr val="1B7577"/>
          </a:solidFill>
          <a:ln>
            <a:solidFill>
              <a:srgbClr val="1B7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398264" y="3995928"/>
            <a:ext cx="286207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22262E"/>
                </a:solidFill>
                <a:latin typeface="Aptos"/>
              </a:rPr>
              <a:t>normal mode 分支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398264" y="4361688"/>
            <a:ext cx="2862072" cy="9509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>
                <a:solidFill>
                  <a:srgbClr val="5B606B"/>
                </a:solidFill>
                <a:latin typeface="Aptos"/>
              </a:rPr>
              <a:t>同样识别 generated 禁区，但不主动覆盖文件。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5B606B"/>
                </a:solidFill>
                <a:latin typeface="Aptos"/>
              </a:rPr>
              <a:t>问题会进 Diagnostics / Problems。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5B606B"/>
                </a:solidFill>
                <a:latin typeface="Aptos"/>
              </a:rPr>
              <a:t>适合更温和的团队推广默认值。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680960" y="3794760"/>
            <a:ext cx="3154680" cy="16459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AB2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7680960" y="3794760"/>
            <a:ext cx="3154680" cy="146304"/>
          </a:xfrm>
          <a:prstGeom prst="rect">
            <a:avLst/>
          </a:prstGeom>
          <a:solidFill>
            <a:srgbClr val="EAB24A"/>
          </a:solidFill>
          <a:ln>
            <a:solidFill>
              <a:srgbClr val="EAB2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827264" y="3995928"/>
            <a:ext cx="286207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22262E"/>
                </a:solidFill>
                <a:latin typeface="Aptos"/>
              </a:rPr>
              <a:t>噪音控制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827264" y="4361688"/>
            <a:ext cx="2862072" cy="9509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>
                <a:solidFill>
                  <a:srgbClr val="5B606B"/>
                </a:solidFill>
                <a:latin typeface="Aptos"/>
              </a:rPr>
              <a:t>OutputChannel 保存最近结果，不落地日志文件。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5B606B"/>
                </a:solidFill>
                <a:latin typeface="Aptos"/>
              </a:rPr>
              <a:t>generated 目录有短时事件抑制，避免物化后自触发风暴。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5B606B"/>
                </a:solidFill>
                <a:latin typeface="Aptos"/>
              </a:rPr>
              <a:t>只有相关变化才补跑对应命令。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48640" y="6419088"/>
            <a:ext cx="10972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5B606B"/>
                </a:solidFill>
                <a:latin typeface="Aptos"/>
              </a:rPr>
              <a:t>核心实现：extension.js:247-345, 1312-1448；guarding.js:118-186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2560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EF5C3A"/>
                </a:solidFill>
                <a:latin typeface="Aptos"/>
              </a:rPr>
              <a:t>05 / 配置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94360"/>
            <a:ext cx="76809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22262E"/>
                </a:solidFill>
                <a:latin typeface="Aptos Display"/>
              </a:rPr>
              <a:t>现在的配置已经能把“提醒型守卫”和“强约束守卫”区分开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005840"/>
            <a:ext cx="107899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B606B"/>
                </a:solidFill>
                <a:latin typeface="Aptos"/>
              </a:rPr>
              <a:t>配置层不是附属品。对团队推广来说，它决定插件是先提示、先教育，还是直接升级为强闸门。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554480"/>
            <a:ext cx="5303520" cy="4389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ED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85800" y="1554480"/>
            <a:ext cx="2651760" cy="502920"/>
          </a:xfrm>
          <a:prstGeom prst="roundRect">
            <a:avLst/>
          </a:prstGeom>
          <a:solidFill>
            <a:srgbClr val="EF5C3A"/>
          </a:solidFill>
          <a:ln>
            <a:solidFill>
              <a:srgbClr val="EF5C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337560" y="1554480"/>
            <a:ext cx="2651760" cy="502920"/>
          </a:xfrm>
          <a:prstGeom prst="roundRect">
            <a:avLst/>
          </a:prstGeom>
          <a:solidFill>
            <a:srgbClr val="1B7577"/>
          </a:solidFill>
          <a:ln>
            <a:solidFill>
              <a:srgbClr val="1B7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682496"/>
            <a:ext cx="22402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Aptos Display"/>
              </a:rPr>
              <a:t>Normal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20440" y="1682496"/>
            <a:ext cx="22402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Aptos Display"/>
              </a:rPr>
              <a:t>Strict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148840"/>
            <a:ext cx="13716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5B606B"/>
                </a:solidFill>
                <a:latin typeface="Aptos"/>
              </a:rPr>
              <a:t>generated 直改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20240" y="2148840"/>
            <a:ext cx="11887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22262E"/>
                </a:solidFill>
                <a:latin typeface="Aptos"/>
              </a:rPr>
              <a:t>报告问题，不覆盖文件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11880" y="2148840"/>
            <a:ext cx="201168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22262E"/>
                </a:solidFill>
                <a:latin typeface="Aptos"/>
              </a:rPr>
              <a:t>自动尝试恢复；恢复失败再报错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2862072"/>
            <a:ext cx="13716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5B606B"/>
                </a:solidFill>
                <a:latin typeface="Aptos"/>
              </a:rPr>
              <a:t>auto materialize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920240" y="2862072"/>
            <a:ext cx="11887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22262E"/>
                </a:solidFill>
                <a:latin typeface="Aptos"/>
              </a:rPr>
              <a:t>可开关，默认开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11880" y="2862072"/>
            <a:ext cx="201168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22262E"/>
                </a:solidFill>
                <a:latin typeface="Aptos"/>
              </a:rPr>
              <a:t>可开关，默认开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3575304"/>
            <a:ext cx="13716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5B606B"/>
                </a:solidFill>
                <a:latin typeface="Aptos"/>
              </a:rPr>
              <a:t>Python 改动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20240" y="3575304"/>
            <a:ext cx="11887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22262E"/>
                </a:solidFill>
                <a:latin typeface="Aptos"/>
              </a:rPr>
              <a:t>相关文件才跑 mypy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11880" y="3575304"/>
            <a:ext cx="201168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22262E"/>
                </a:solidFill>
                <a:latin typeface="Aptos"/>
              </a:rPr>
              <a:t>相关文件才跑 mypy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4288536"/>
            <a:ext cx="13716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5B606B"/>
                </a:solidFill>
                <a:latin typeface="Aptos"/>
              </a:rPr>
              <a:t>git hooks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920240" y="4288536"/>
            <a:ext cx="11887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22262E"/>
                </a:solidFill>
                <a:latin typeface="Aptos"/>
              </a:rPr>
              <a:t>提示安装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11880" y="4288536"/>
            <a:ext cx="201168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22262E"/>
                </a:solidFill>
                <a:latin typeface="Aptos"/>
              </a:rPr>
              <a:t>提示安装 + pre-push 更关键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" y="5001768"/>
            <a:ext cx="13716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5B606B"/>
                </a:solidFill>
                <a:latin typeface="Aptos"/>
              </a:rPr>
              <a:t>适用场景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920240" y="5001768"/>
            <a:ext cx="11887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22262E"/>
                </a:solidFill>
                <a:latin typeface="Aptos"/>
              </a:rPr>
              <a:t>先推广、先适应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11880" y="5001768"/>
            <a:ext cx="201168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22262E"/>
                </a:solidFill>
                <a:latin typeface="Aptos"/>
              </a:rPr>
              <a:t>核心团队、严格仓库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355080" y="1664208"/>
            <a:ext cx="5166360" cy="1965960"/>
          </a:xfrm>
          <a:prstGeom prst="roundRect">
            <a:avLst/>
          </a:prstGeom>
          <a:solidFill>
            <a:srgbClr val="22262E"/>
          </a:solidFill>
          <a:ln>
            <a:solidFill>
              <a:srgbClr val="2226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01384" y="1773936"/>
            <a:ext cx="487375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EAB24A"/>
                </a:solidFill>
                <a:latin typeface="Aptos"/>
              </a:rPr>
              <a:t>关键配置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01384" y="2029968"/>
            <a:ext cx="4873752" cy="1490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0">
                <a:solidFill>
                  <a:srgbClr val="FFFFFF"/>
                </a:solidFill>
                <a:latin typeface="Cascadia Code"/>
              </a:rPr>
              <a:t>shelf.guardMode</a:t>
            </a:r>
          </a:p>
          <a:p>
            <a:pPr algn="l">
              <a:spcAft>
                <a:spcPts val="500"/>
              </a:spcAft>
            </a:pPr>
            <a:r>
              <a:rPr sz="1100" b="0">
                <a:solidFill>
                  <a:srgbClr val="FFFFFF"/>
                </a:solidFill>
                <a:latin typeface="Cascadia Code"/>
              </a:rPr>
              <a:t>shelf.autoMaterialize</a:t>
            </a:r>
          </a:p>
          <a:p>
            <a:pPr algn="l">
              <a:spcAft>
                <a:spcPts val="500"/>
              </a:spcAft>
            </a:pPr>
            <a:r>
              <a:rPr sz="1100" b="0">
                <a:solidFill>
                  <a:srgbClr val="FFFFFF"/>
                </a:solidFill>
                <a:latin typeface="Cascadia Code"/>
              </a:rPr>
              <a:t>shelf.runMypyOnPythonChanges</a:t>
            </a:r>
          </a:p>
          <a:p>
            <a:pPr algn="l">
              <a:spcAft>
                <a:spcPts val="500"/>
              </a:spcAft>
            </a:pPr>
            <a:r>
              <a:rPr sz="1100" b="0">
                <a:solidFill>
                  <a:srgbClr val="FFFFFF"/>
                </a:solidFill>
                <a:latin typeface="Cascadia Code"/>
              </a:rPr>
              <a:t>shelf.protectGeneratedFiles</a:t>
            </a:r>
          </a:p>
          <a:p>
            <a:pPr algn="l">
              <a:spcAft>
                <a:spcPts val="500"/>
              </a:spcAft>
            </a:pPr>
            <a:r>
              <a:rPr sz="1100" b="0">
                <a:solidFill>
                  <a:srgbClr val="FFFFFF"/>
                </a:solidFill>
                <a:latin typeface="Cascadia Code"/>
              </a:rPr>
              <a:t>shelf.promptInstallGitHooks</a:t>
            </a:r>
          </a:p>
          <a:p>
            <a:pPr algn="l">
              <a:spcAft>
                <a:spcPts val="500"/>
              </a:spcAft>
            </a:pPr>
            <a:r>
              <a:rPr sz="1100" b="0">
                <a:solidFill>
                  <a:srgbClr val="FFFFFF"/>
                </a:solidFill>
                <a:latin typeface="Cascadia Code"/>
              </a:rPr>
              <a:t>shelf.materializeCommand</a:t>
            </a:r>
          </a:p>
          <a:p>
            <a:pPr algn="l">
              <a:spcAft>
                <a:spcPts val="500"/>
              </a:spcAft>
            </a:pPr>
            <a:r>
              <a:rPr sz="1100" b="0">
                <a:solidFill>
                  <a:srgbClr val="FFFFFF"/>
                </a:solidFill>
                <a:latin typeface="Cascadia Code"/>
              </a:rPr>
              <a:t>shelf.typeCheckCommand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355080" y="3822191"/>
            <a:ext cx="5166360" cy="19659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AB2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355080" y="3822191"/>
            <a:ext cx="5166360" cy="146304"/>
          </a:xfrm>
          <a:prstGeom prst="rect">
            <a:avLst/>
          </a:prstGeom>
          <a:solidFill>
            <a:srgbClr val="EAB24A"/>
          </a:solidFill>
          <a:ln>
            <a:solidFill>
              <a:srgbClr val="EAB2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501384" y="4023359"/>
            <a:ext cx="487375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22262E"/>
                </a:solidFill>
                <a:latin typeface="Aptos"/>
              </a:rPr>
              <a:t>当前配置面（共 13 项）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01384" y="4389119"/>
            <a:ext cx="4873752" cy="1271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>
                <a:solidFill>
                  <a:srgbClr val="5B606B"/>
                </a:solidFill>
                <a:latin typeface="Aptos"/>
              </a:rPr>
              <a:t>行为开关：save / auto fail / guard mode / auto materialize / mypy / generated protect / hooks prompt。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5B606B"/>
                </a:solidFill>
                <a:latin typeface="Aptos"/>
              </a:rPr>
              <a:t>命令覆盖：change validation、full validation、framework tree generate、materialize、type check。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5B606B"/>
                </a:solidFill>
                <a:latin typeface="Aptos"/>
              </a:rPr>
              <a:t>说明已经从“单命令插件”进化成“可配置守卫系统”。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" y="6419088"/>
            <a:ext cx="10972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5B606B"/>
                </a:solidFill>
                <a:latin typeface="Aptos"/>
              </a:rPr>
              <a:t>配置来源：tools/vscode/shelf-ai/package.json；行为说明：tools/vscode/shelf-ai/README.md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2560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EF5C3A"/>
                </a:solidFill>
                <a:latin typeface="Aptos"/>
              </a:rPr>
              <a:t>06 / 代码实现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94360"/>
            <a:ext cx="76809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22262E"/>
                </a:solidFill>
                <a:latin typeface="Aptos Display"/>
              </a:rPr>
              <a:t>真正值得看的不是 UI，而是每个文件分别扛了什么职责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005840"/>
            <a:ext cx="107899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B606B"/>
                </a:solidFill>
                <a:latin typeface="Aptos"/>
              </a:rPr>
              <a:t>这页可以直接拿来给团队做 code walkthrough，因为它基本对应当前代码结构。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1600200"/>
            <a:ext cx="5212080" cy="1325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F5C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58368" y="1600200"/>
            <a:ext cx="5212080" cy="146304"/>
          </a:xfrm>
          <a:prstGeom prst="rect">
            <a:avLst/>
          </a:prstGeom>
          <a:solidFill>
            <a:srgbClr val="EF5C3A"/>
          </a:solidFill>
          <a:ln>
            <a:solidFill>
              <a:srgbClr val="EF5C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801368"/>
            <a:ext cx="491947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22262E"/>
                </a:solidFill>
                <a:latin typeface="Aptos"/>
              </a:rPr>
              <a:t>extension.js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" y="2167128"/>
            <a:ext cx="4919472" cy="630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>
                <a:solidFill>
                  <a:srgbClr val="5B606B"/>
                </a:solidFill>
                <a:latin typeface="Aptos"/>
              </a:rPr>
              <a:t>运行中心。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5B606B"/>
                </a:solidFill>
                <a:latin typeface="Aptos"/>
              </a:rPr>
              <a:t>注册 providers / commands / watchers。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5B606B"/>
                </a:solidFill>
                <a:latin typeface="Aptos"/>
              </a:rPr>
              <a:t>runValidation 把分类、命令执行和 UI 回流串起来。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81928" y="1600200"/>
            <a:ext cx="5212080" cy="1325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B7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81928" y="1600200"/>
            <a:ext cx="5212080" cy="146304"/>
          </a:xfrm>
          <a:prstGeom prst="rect">
            <a:avLst/>
          </a:prstGeom>
          <a:solidFill>
            <a:srgbClr val="1B7577"/>
          </a:solidFill>
          <a:ln>
            <a:solidFill>
              <a:srgbClr val="1B7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28232" y="1801368"/>
            <a:ext cx="491947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22262E"/>
                </a:solidFill>
                <a:latin typeface="Aptos"/>
              </a:rPr>
              <a:t>guarding.js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28232" y="2167128"/>
            <a:ext cx="4919472" cy="630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>
                <a:solidFill>
                  <a:srgbClr val="5B606B"/>
                </a:solidFill>
                <a:latin typeface="Aptos"/>
              </a:rPr>
              <a:t>路径归一化与 watched path 判定。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5B606B"/>
                </a:solidFill>
                <a:latin typeface="Aptos"/>
              </a:rPr>
              <a:t>classifyWorkspaceChanges 决定 materialize / mypy / generated protect。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5B606B"/>
                </a:solidFill>
                <a:latin typeface="Aptos"/>
              </a:rPr>
              <a:t>把“跑什么”从 orchestrator 里抽出去。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3172968"/>
            <a:ext cx="5212080" cy="1325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AB2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58368" y="3172968"/>
            <a:ext cx="5212080" cy="146304"/>
          </a:xfrm>
          <a:prstGeom prst="rect">
            <a:avLst/>
          </a:prstGeom>
          <a:solidFill>
            <a:srgbClr val="EAB24A"/>
          </a:solidFill>
          <a:ln>
            <a:solidFill>
              <a:srgbClr val="EAB2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3374136"/>
            <a:ext cx="491947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22262E"/>
                </a:solidFill>
                <a:latin typeface="Aptos"/>
              </a:rPr>
              <a:t>framework_navigation.js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4672" y="3739896"/>
            <a:ext cx="4919472" cy="630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>
                <a:solidFill>
                  <a:srgbClr val="5B606B"/>
                </a:solidFill>
                <a:latin typeface="Aptos"/>
              </a:rPr>
              <a:t>框架引用解析。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5B606B"/>
                </a:solidFill>
                <a:latin typeface="Aptos"/>
              </a:rPr>
              <a:t>模块与边界 token 跳转、hover、reference。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5B606B"/>
                </a:solidFill>
                <a:latin typeface="Aptos"/>
              </a:rPr>
              <a:t>boundary 可映射到 product_spec.toml section。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81928" y="3172968"/>
            <a:ext cx="5212080" cy="1325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3F85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81928" y="3172968"/>
            <a:ext cx="5212080" cy="146304"/>
          </a:xfrm>
          <a:prstGeom prst="rect">
            <a:avLst/>
          </a:prstGeom>
          <a:solidFill>
            <a:srgbClr val="3F8571"/>
          </a:solidFill>
          <a:ln>
            <a:solidFill>
              <a:srgbClr val="3F85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28232" y="3374136"/>
            <a:ext cx="491947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22262E"/>
                </a:solidFill>
                <a:latin typeface="Aptos"/>
              </a:rPr>
              <a:t>framework_completion.js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28232" y="3739896"/>
            <a:ext cx="4919472" cy="630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>
                <a:solidFill>
                  <a:srgbClr val="5B606B"/>
                </a:solidFill>
                <a:latin typeface="Aptos"/>
              </a:rPr>
              <a:t>@framework 模板与补全定义。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5B606B"/>
                </a:solidFill>
                <a:latin typeface="Aptos"/>
              </a:rPr>
              <a:t>按上下文给出标题、章节、C/B/R/V、R*.1~R*.4。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5B606B"/>
                </a:solidFill>
                <a:latin typeface="Aptos"/>
              </a:rPr>
              <a:t>保障框架作者入口不丢失。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474720" y="4709160"/>
            <a:ext cx="5212080" cy="1325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47D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474720" y="4709160"/>
            <a:ext cx="5212080" cy="146304"/>
          </a:xfrm>
          <a:prstGeom prst="rect">
            <a:avLst/>
          </a:prstGeom>
          <a:solidFill>
            <a:srgbClr val="D47D22"/>
          </a:solidFill>
          <a:ln>
            <a:solidFill>
              <a:srgbClr val="D47D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621024" y="4910328"/>
            <a:ext cx="491947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22262E"/>
                </a:solidFill>
                <a:latin typeface="Aptos"/>
              </a:rPr>
              <a:t>package.json / README / tests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21024" y="5276088"/>
            <a:ext cx="4919472" cy="630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>
                <a:solidFill>
                  <a:srgbClr val="5B606B"/>
                </a:solidFill>
                <a:latin typeface="Aptos"/>
              </a:rPr>
              <a:t>命令、配置、激活事件、view 贡献。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5B606B"/>
                </a:solidFill>
                <a:latin typeface="Aptos"/>
              </a:rPr>
              <a:t>README 对外说明行为。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5B606B"/>
                </a:solidFill>
                <a:latin typeface="Aptos"/>
              </a:rPr>
              <a:t>test_snippets.js / test_guarding.js 守住回归。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635240" y="1691640"/>
            <a:ext cx="3657600" cy="2057400"/>
          </a:xfrm>
          <a:prstGeom prst="roundRect">
            <a:avLst/>
          </a:prstGeom>
          <a:solidFill>
            <a:srgbClr val="22262E"/>
          </a:solidFill>
          <a:ln>
            <a:solidFill>
              <a:srgbClr val="2226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781544" y="1801368"/>
            <a:ext cx="336499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EAB24A"/>
                </a:solidFill>
                <a:latin typeface="Aptos"/>
              </a:rPr>
              <a:t>关键函数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81544" y="2057400"/>
            <a:ext cx="3364992" cy="1581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0">
                <a:solidFill>
                  <a:srgbClr val="FFFFFF"/>
                </a:solidFill>
                <a:latin typeface="Cascadia Code"/>
              </a:rPr>
              <a:t>runValidation(...)</a:t>
            </a:r>
          </a:p>
          <a:p>
            <a:pPr algn="l">
              <a:spcAft>
                <a:spcPts val="500"/>
              </a:spcAft>
            </a:pPr>
            <a:r>
              <a:rPr sz="1100" b="0">
                <a:solidFill>
                  <a:srgbClr val="FFFFFF"/>
                </a:solidFill>
                <a:latin typeface="Cascadia Code"/>
              </a:rPr>
              <a:t>refreshGitHookStatus(...)</a:t>
            </a:r>
          </a:p>
          <a:p>
            <a:pPr algn="l">
              <a:spcAft>
                <a:spcPts val="500"/>
              </a:spcAft>
            </a:pPr>
            <a:r>
              <a:rPr sz="1100" b="0">
                <a:solidFill>
                  <a:srgbClr val="FFFFFF"/>
                </a:solidFill>
                <a:latin typeface="Cascadia Code"/>
              </a:rPr>
              <a:t>buildMaterializeCommand(...)</a:t>
            </a:r>
          </a:p>
          <a:p>
            <a:pPr algn="l">
              <a:spcAft>
                <a:spcPts val="500"/>
              </a:spcAft>
            </a:pPr>
            <a:r>
              <a:rPr sz="1100" b="0">
                <a:solidFill>
                  <a:srgbClr val="FFFFFF"/>
                </a:solidFill>
                <a:latin typeface="Cascadia Code"/>
              </a:rPr>
              <a:t>parseStageFailure(...)</a:t>
            </a:r>
          </a:p>
          <a:p>
            <a:pPr algn="l">
              <a:spcAft>
                <a:spcPts val="500"/>
              </a:spcAft>
            </a:pPr>
            <a:r>
              <a:rPr sz="1100" b="0">
                <a:solidFill>
                  <a:srgbClr val="FFFFFF"/>
                </a:solidFill>
                <a:latin typeface="Cascadia Code"/>
              </a:rPr>
              <a:t>parseMypyResult(...)</a:t>
            </a:r>
          </a:p>
          <a:p>
            <a:pPr algn="l">
              <a:spcAft>
                <a:spcPts val="500"/>
              </a:spcAft>
            </a:pPr>
            <a:r>
              <a:rPr sz="1100" b="0">
                <a:solidFill>
                  <a:srgbClr val="FFFFFF"/>
                </a:solidFill>
                <a:latin typeface="Cascadia Code"/>
              </a:rPr>
              <a:t>classifyWorkspaceChanges(...)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6419088"/>
            <a:ext cx="10972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5B606B"/>
                </a:solidFill>
                <a:latin typeface="Aptos"/>
              </a:rPr>
              <a:t>入口分布：extension.js:869-1279；guarding.js:1-202；framework_navigation.js；framework_completion.js；test_snippets.js；test_guarding.js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2560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EF5C3A"/>
                </a:solidFill>
                <a:latin typeface="Aptos"/>
              </a:rPr>
              <a:t>07 / Codex 场景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94360"/>
            <a:ext cx="76809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22262E"/>
                </a:solidFill>
                <a:latin typeface="Aptos Display"/>
              </a:rPr>
              <a:t>它如何约束 Codex：不拦聊天入口，而是拦工作区里的真实结果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005840"/>
            <a:ext cx="107899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B606B"/>
                </a:solidFill>
                <a:latin typeface="Aptos"/>
              </a:rPr>
              <a:t>这也是为什么插件适合规模化分发。团队不需要统一 AI 客户端，只需要统一工作区守卫。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1572768"/>
            <a:ext cx="4480560" cy="13716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F5C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58368" y="1572768"/>
            <a:ext cx="4480560" cy="146304"/>
          </a:xfrm>
          <a:prstGeom prst="rect">
            <a:avLst/>
          </a:prstGeom>
          <a:solidFill>
            <a:srgbClr val="EF5C3A"/>
          </a:solidFill>
          <a:ln>
            <a:solidFill>
              <a:srgbClr val="EF5C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773936"/>
            <a:ext cx="418795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22262E"/>
                </a:solidFill>
                <a:latin typeface="Aptos"/>
              </a:rPr>
              <a:t>Codex / 人 都一样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" y="2139696"/>
            <a:ext cx="4187952" cy="676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>
                <a:solidFill>
                  <a:srgbClr val="5B606B"/>
                </a:solidFill>
                <a:latin typeface="Aptos"/>
              </a:rPr>
              <a:t>无论是 AI 改文件还是人改文件，最后都会变成 VS Code 工作区变更事件。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5B606B"/>
                </a:solidFill>
                <a:latin typeface="Aptos"/>
              </a:rPr>
              <a:t>Shelf AI 对事件做同一套后台处理，不为某个编辑者单独开后门。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8680" y="3246120"/>
            <a:ext cx="841248" cy="1234440"/>
          </a:xfrm>
          <a:prstGeom prst="roundRect">
            <a:avLst/>
          </a:prstGeom>
          <a:solidFill>
            <a:srgbClr val="2A3C42"/>
          </a:solidFill>
          <a:ln>
            <a:solidFill>
              <a:srgbClr val="2A3C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41832" y="3355848"/>
            <a:ext cx="694944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ptos"/>
              </a:rPr>
              <a:t>Codex 产出 patch 或直接改文件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709928" y="3858768"/>
            <a:ext cx="91440" cy="0"/>
          </a:xfrm>
          <a:prstGeom prst="line">
            <a:avLst/>
          </a:prstGeom>
          <a:ln w="22860">
            <a:solidFill>
              <a:srgbClr val="2A3C4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1801368" y="3246120"/>
            <a:ext cx="841248" cy="1234440"/>
          </a:xfrm>
          <a:prstGeom prst="roundRect">
            <a:avLst/>
          </a:prstGeom>
          <a:solidFill>
            <a:srgbClr val="EF5C3A"/>
          </a:solidFill>
          <a:ln>
            <a:solidFill>
              <a:srgbClr val="EF5C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874520" y="3355848"/>
            <a:ext cx="694944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ptos"/>
              </a:rPr>
              <a:t>VS Code 触发 save / watcher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642616" y="3858768"/>
            <a:ext cx="91440" cy="0"/>
          </a:xfrm>
          <a:prstGeom prst="line">
            <a:avLst/>
          </a:prstGeom>
          <a:ln w="22860">
            <a:solidFill>
              <a:srgbClr val="2A3C4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2734056" y="3246120"/>
            <a:ext cx="841248" cy="1234440"/>
          </a:xfrm>
          <a:prstGeom prst="roundRect">
            <a:avLst/>
          </a:prstGeom>
          <a:solidFill>
            <a:srgbClr val="1B7577"/>
          </a:solidFill>
          <a:ln>
            <a:solidFill>
              <a:srgbClr val="1B7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807208" y="3355848"/>
            <a:ext cx="694944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ptos"/>
              </a:rPr>
              <a:t>Shelf AI 分类并补跑必要校验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3575304" y="3858768"/>
            <a:ext cx="91440" cy="0"/>
          </a:xfrm>
          <a:prstGeom prst="line">
            <a:avLst/>
          </a:prstGeom>
          <a:ln w="22860">
            <a:solidFill>
              <a:srgbClr val="2A3C4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3666744" y="3246120"/>
            <a:ext cx="841248" cy="1234440"/>
          </a:xfrm>
          <a:prstGeom prst="roundRect">
            <a:avLst/>
          </a:prstGeom>
          <a:solidFill>
            <a:srgbClr val="EAB24A"/>
          </a:solidFill>
          <a:ln>
            <a:solidFill>
              <a:srgbClr val="EAB2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739896" y="3355848"/>
            <a:ext cx="694944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ptos"/>
              </a:rPr>
              <a:t>问题回到 Problems / 状态栏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4507992" y="3858768"/>
            <a:ext cx="91440" cy="0"/>
          </a:xfrm>
          <a:prstGeom prst="line">
            <a:avLst/>
          </a:prstGeom>
          <a:ln w="22860">
            <a:solidFill>
              <a:srgbClr val="2A3C4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4599432" y="3246120"/>
            <a:ext cx="1143000" cy="1234440"/>
          </a:xfrm>
          <a:prstGeom prst="roundRect">
            <a:avLst/>
          </a:prstGeom>
          <a:solidFill>
            <a:srgbClr val="D47D22"/>
          </a:solidFill>
          <a:ln>
            <a:solidFill>
              <a:srgbClr val="D47D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672584" y="3355848"/>
            <a:ext cx="996696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ptos"/>
              </a:rPr>
              <a:t>推送前再被 .githooks 硬挡一次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669280" y="1572768"/>
            <a:ext cx="5669280" cy="45262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ED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Picture 23" descr="knowledge-base-chat-fir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5692" y="1737360"/>
            <a:ext cx="3756454" cy="347472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5806440" y="5394960"/>
            <a:ext cx="5303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5B606B"/>
                </a:solidFill>
                <a:latin typeface="Aptos"/>
              </a:rPr>
              <a:t>示意图：它最终守住的是知识库行为、引用链和产物一致性，而不是给 Codex 再包一层花哨 UI。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6419088"/>
            <a:ext cx="10972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5B606B"/>
                </a:solidFill>
                <a:latin typeface="Aptos"/>
              </a:rPr>
              <a:t>当前边界：写后立即检查 + 推送前硬挡；尚未接管 Codex 进程，也不是写前拦截。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2560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EF5C3A"/>
                </a:solidFill>
                <a:latin typeface="Aptos"/>
              </a:rPr>
              <a:t>08 / 边界与结论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94360"/>
            <a:ext cx="76809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22262E"/>
                </a:solidFill>
                <a:latin typeface="Aptos Display"/>
              </a:rPr>
              <a:t>现在这版插件已经足够做仓库级后台守卫，但它的边界也应该说清楚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005840"/>
            <a:ext cx="107899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B606B"/>
                </a:solidFill>
                <a:latin typeface="Aptos"/>
              </a:rPr>
              <a:t>这页适合给团队做预期管理：哪些事现在已经可靠，哪些事如果要更强，需要换成 patch gate 或 MCP 写入闸门。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49808" y="1645920"/>
            <a:ext cx="3383280" cy="34747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3F85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49808" y="1645920"/>
            <a:ext cx="3383280" cy="146304"/>
          </a:xfrm>
          <a:prstGeom prst="rect">
            <a:avLst/>
          </a:prstGeom>
          <a:solidFill>
            <a:srgbClr val="3F8571"/>
          </a:solidFill>
          <a:ln>
            <a:solidFill>
              <a:srgbClr val="3F85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847088"/>
            <a:ext cx="309067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22262E"/>
                </a:solidFill>
                <a:latin typeface="Aptos"/>
              </a:rPr>
              <a:t>已经能稳定做到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2212848"/>
            <a:ext cx="3090672" cy="2779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>
                <a:solidFill>
                  <a:srgbClr val="5B606B"/>
                </a:solidFill>
                <a:latin typeface="Aptos"/>
              </a:rPr>
              <a:t>框架作者入口、跳转、hover、references、completion 全接通。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5B606B"/>
                </a:solidFill>
                <a:latin typeface="Aptos"/>
              </a:rPr>
              <a:t>后台识别 framework/spec/config/Python/generated 变化并执行分级守卫。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5B606B"/>
                </a:solidFill>
                <a:latin typeface="Aptos"/>
              </a:rPr>
              <a:t>strict mode 下可自动恢复 generated 禁区。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5B606B"/>
                </a:solidFill>
                <a:latin typeface="Aptos"/>
              </a:rPr>
              <a:t>git hooks 缺失会提示，一键安装后把 pre-push 也扣上。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5B606B"/>
                </a:solidFill>
                <a:latin typeface="Aptos"/>
              </a:rPr>
              <a:t>不生成仓库日志垃圾，输出只留在 VS Code OutputChannel。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07408" y="1645920"/>
            <a:ext cx="3383280" cy="34747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47D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407408" y="1645920"/>
            <a:ext cx="3383280" cy="146304"/>
          </a:xfrm>
          <a:prstGeom prst="rect">
            <a:avLst/>
          </a:prstGeom>
          <a:solidFill>
            <a:srgbClr val="D47D22"/>
          </a:solidFill>
          <a:ln>
            <a:solidFill>
              <a:srgbClr val="D47D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53712" y="1847088"/>
            <a:ext cx="309067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22262E"/>
                </a:solidFill>
                <a:latin typeface="Aptos"/>
              </a:rPr>
              <a:t>当前明确边界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53712" y="2212848"/>
            <a:ext cx="3090672" cy="2779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>
                <a:solidFill>
                  <a:srgbClr val="5B606B"/>
                </a:solidFill>
                <a:latin typeface="Aptos"/>
              </a:rPr>
              <a:t>不启动 Codex，不绑定某个 AI 客户端。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5B606B"/>
                </a:solidFill>
                <a:latin typeface="Aptos"/>
              </a:rPr>
              <a:t>不是写前拦截，第一笔文件字节仍可能先落盘。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5B606B"/>
                </a:solidFill>
                <a:latin typeface="Aptos"/>
              </a:rPr>
              <a:t>对 generated 的“强拦”只覆盖明确禁区；一般代码改动还是先检查后提示。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5B606B"/>
                </a:solidFill>
                <a:latin typeface="Aptos"/>
              </a:rPr>
              <a:t>真正的结构约束仍依赖仓库规范、物化链和 validate 脚本。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65008" y="1645920"/>
            <a:ext cx="3383280" cy="34747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F5C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65008" y="1645920"/>
            <a:ext cx="3383280" cy="146304"/>
          </a:xfrm>
          <a:prstGeom prst="rect">
            <a:avLst/>
          </a:prstGeom>
          <a:solidFill>
            <a:srgbClr val="EF5C3A"/>
          </a:solidFill>
          <a:ln>
            <a:solidFill>
              <a:srgbClr val="EF5C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11312" y="1847088"/>
            <a:ext cx="309067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22262E"/>
                </a:solidFill>
                <a:latin typeface="Aptos"/>
              </a:rPr>
              <a:t>如果要再强一步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11312" y="2212848"/>
            <a:ext cx="3090672" cy="2779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>
                <a:solidFill>
                  <a:srgbClr val="5B606B"/>
                </a:solidFill>
                <a:latin typeface="Aptos"/>
              </a:rPr>
              <a:t>把 Codex 写入改成 patch gate，再由 Shelf 审批后落盘。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5B606B"/>
                </a:solidFill>
                <a:latin typeface="Aptos"/>
              </a:rPr>
              <a:t>把 framework/spec/config 的引用链进一步编译成更细的强规则。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5B606B"/>
                </a:solidFill>
                <a:latin typeface="Aptos"/>
              </a:rPr>
              <a:t>把“工作区后台守卫”升级成“代码写入闸门”。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5B606B"/>
                </a:solidFill>
                <a:latin typeface="Aptos"/>
              </a:rPr>
              <a:t>但那已经不是今天这版插件的定位了。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9808" y="5486400"/>
            <a:ext cx="10698480" cy="65836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ED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5650992"/>
            <a:ext cx="103327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22262E"/>
                </a:solidFill>
                <a:latin typeface="Aptos"/>
              </a:rPr>
              <a:t>一句话结论：Shelf AI 当前已经是“结构感知 + 后台守卫 + 推送前硬挡”的实用插件；如果未来要做到绝对强制，就该升级成写入闸门，而不是继续堆提示词。</a:t>
            </a:r>
          </a:p>
        </p:txBody>
      </p:sp>
      <p:pic>
        <p:nvPicPr>
          <p:cNvPr id="19" name="Picture 18" descr="shelf-rainbow-lockup-opti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55480" y="382905"/>
            <a:ext cx="2011680" cy="88011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548640" y="6419088"/>
            <a:ext cx="10972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5B606B"/>
                </a:solidFill>
                <a:latin typeface="Aptos"/>
              </a:rPr>
              <a:t>此 PPT 由 scripts/build_shelf_ai_plugin_presentation.py 基于当前仓库实现生成。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